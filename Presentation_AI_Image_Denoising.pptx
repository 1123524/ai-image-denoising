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project combining the two courses: comparing five classical denoising filters against a deep CNN (DnCNN) under one common, reproducible protocol.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Because many clean images explain the same noisy observation, denoising relies on assumptions/priors. Classical methods encode these by hand; deep models learn them from data. We compare both fairly.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 on a FAIR comparison: same images, same noise, same metrics — and we also measure runtime, which most quality-only comparisons ignore.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synthesize both noise types so we have a clean ground truth and can compute PSNR/SSIM. Salt-and-pepper is included specifically to test generalization.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Ordered by increasing modeling power: from local linear filtering, to edge-aware, to non-local self-similarity, to BM3D's collaborative transform-domain filtering.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Residual learning makes training easier and faster: the network output is the estimated noise map. BatchNorm stabilizes training. Blind training trades a little peak accuracy for flexibility across noise levels.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PSNR and SSIM are complementary: PSNR measures raw error, SSIM measures perceived structure. Reporting runtime is what reveals the real trade-off in this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BM3D is best at every noise level; our blind DnCNN is a close second, ~0.7–1.0 dB behind. Both clearly beat simple local filters, and the gap widens as σ grows.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salt-and-pepper case is the key insight: a learned model fails outside its training noise distribution, while the rank-order median filter — built for impulse noise — dominates.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headline result. DnCNN trades a sub-1 dB quality deficit for one-to-two orders of magnitude faster inference — decisive for real-time or large-scale use. Note the time axis is log-scaled.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mature takeaway: not 'deep learning wins', but 'each has its place'. This nuance is what distinguishes a strong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on a real out-of-dataset photo confirms the methods generalize. BM3D scores highest here thanks to the repetitive fur texture that non-local methods exploit.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A Comparative Study of Classical Filters
and Deep Learning for Image Denoising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6634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1123524    1123505    1123506</a:t>
            </a:r>
          </a:p>
          <a:p>
            <a:pPr algn="ctr">
              <a:spcBef>
                <a:spcPts val="800"/>
              </a:spcBef>
            </a:pPr>
            <a:r>
              <a:rPr sz="1500" b="0">
                <a:solidFill>
                  <a:srgbClr val="BBCCEE"/>
                </a:solidFill>
              </a:rPr>
              <a:t>Introduction to Image Processing  ×  Artificial Intelligence and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</a:rPr>
              <a:t>Motivation: Why Image Denoising?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78992"/>
            <a:ext cx="2194560" cy="54864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</a:rPr>
              <a:t>2/12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</a:rPr>
              <a:t>•  Images are inevitably corrupted by noise during capture and transmission</a:t>
            </a:r>
          </a:p>
          <a:p>
            <a:pPr lvl="1"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</a:rPr>
              <a:t>–  sensor thermal noise, photon shot noise, low light, high ISO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</a:rPr>
              <a:t>•  Degradation model:  y = x + n   (x = clean image, n = noise)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</a:rPr>
              <a:t>•  Denoising is a key pre-processing step for recognition, segmentation, medical imaging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F2A44"/>
                </a:solidFill>
              </a:rPr>
              <a:t>•  The problem is ill-posed — every method needs a prior about natural images:</a:t>
            </a:r>
          </a:p>
          <a:p>
            <a:pPr lvl="1"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</a:rPr>
              <a:t>–  hand-crafted (smoothness, edges, self-similarity)  vs.  learned from data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</a:rPr>
              <a:t>•  Core question: how does deep learning compare with classical filters — in quality, speed, and robustness?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</a:rPr>
              <a:t>Objectives and Contributions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78992"/>
            <a:ext cx="2194560" cy="54864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</a:rPr>
              <a:t>3/12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</a:rPr>
              <a:t>•  A unified, reproducible benchmark under identical noise and metrics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F2A44"/>
                </a:solidFill>
              </a:rPr>
              <a:t>•  Methods compared:</a:t>
            </a:r>
          </a:p>
          <a:p>
            <a:pPr lvl="1"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</a:rPr>
              <a:t>–  Classical: Gaussian, Median, Bilateral, NLM, BM3D</a:t>
            </a:r>
          </a:p>
          <a:p>
            <a:pPr lvl="1"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</a:rPr>
              <a:t>–  Deep learning: DnCNN (residual learning, blind denoising)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</a:rPr>
              <a:t>•  Conditions:  grayscale &amp; color  ·  Gaussian σ = 15 / 25 / 50  ·  salt-and-pepper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</a:rPr>
              <a:t>•  Metrics:  PSNR,  SSIM,  and inference time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</a:rPr>
              <a:t>•  All code, weights, and results released on GitHub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</a:rPr>
              <a:t>Two Types of Noise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78992"/>
            <a:ext cx="2194560" cy="54864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</a:rPr>
              <a:t>4/12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</a:rPr>
              <a:t>•  Gaussian noise: additive, each pixel + N(0, σ²) — models sensor noise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</a:rPr>
              <a:t>•  Salt-and-pepper: random black/white pixels — impulse noise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</a:rPr>
              <a:t>•  Larger σ → harder restoration; methods behave very differently per type</a:t>
            </a:r>
          </a:p>
        </p:txBody>
      </p:sp>
      <p:pic>
        <p:nvPicPr>
          <p:cNvPr id="6" name="Picture 5" descr="saltpep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3108960"/>
            <a:ext cx="9052560" cy="46094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</a:rPr>
              <a:t>Classical Denoising Methods (Image Processing)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78992"/>
            <a:ext cx="2194560" cy="54864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</a:rPr>
              <a:t>5/12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1F2A44"/>
                </a:solidFill>
              </a:rPr>
              <a:t>•  Gaussian filter — weighted local average; simple but blurs edges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1F2A44"/>
                </a:solidFill>
              </a:rPr>
              <a:t>•  Median filter — replaces pixel by neighborhood median; great for impulse noise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1F2A44"/>
                </a:solidFill>
              </a:rPr>
              <a:t>•  Bilateral filter — adds an intensity-range weight; preserves edges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1F2A44"/>
                </a:solidFill>
              </a:rPr>
              <a:t>•  Non-Local Means (NLM) — averages similar patches from the whole image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1F2A44"/>
                </a:solidFill>
              </a:rPr>
              <a:t>•  BM3D — groups similar patches into 3-D stacks + transform-domain filtering</a:t>
            </a:r>
          </a:p>
          <a:p>
            <a:pPr lvl="1" algn="l">
              <a:spcAft>
                <a:spcPts val="800"/>
              </a:spcAft>
            </a:pPr>
            <a:r>
              <a:rPr sz="1700" b="0">
                <a:solidFill>
                  <a:srgbClr val="555555"/>
                </a:solidFill>
              </a:rPr>
              <a:t>–  the strongest classical method — our 'upper bound' baseline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</a:rPr>
              <a:t>Deep Learning Method: DnCNN (AI)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78992"/>
            <a:ext cx="2194560" cy="54864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</a:rPr>
              <a:t>6/12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</a:rPr>
              <a:t>•  17-layer CNN (Conv – BatchNorm – ReLU)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</a:rPr>
              <a:t>•  Residual learning: predict the NOISE, then  clean = input − noise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</a:rPr>
              <a:t>•  Blind denoising: trained with random σ ∈ [0, 55]</a:t>
            </a:r>
          </a:p>
          <a:p>
            <a:pPr lvl="1"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</a:rPr>
              <a:t>–  a single model handles many noise levels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</a:rPr>
              <a:t>•  Training: 40×40 patches from Train400, Adam, 50 epochs (Colab T4)</a:t>
            </a:r>
          </a:p>
        </p:txBody>
      </p:sp>
      <p:pic>
        <p:nvPicPr>
          <p:cNvPr id="6" name="Picture 5" descr="lo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011680"/>
            <a:ext cx="4023360" cy="31139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</a:rPr>
              <a:t>Evaluation Metrics and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78992"/>
            <a:ext cx="2194560" cy="54864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</a:rPr>
              <a:t>7/12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</a:rPr>
              <a:t>•  PSNR (dB) — pixel-level fidelity; higher is better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</a:rPr>
              <a:t>•  SSIM — structural similarity, closer to human perception; max = 1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</a:rPr>
              <a:t>•  Inference time — average seconds per image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</a:rPr>
              <a:t>•  Datasets:  Set12 / BSD68 (grayscale),  Kodak (color)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</a:rPr>
              <a:t>•  Training set: Train400 (Berkeley images)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</a:rPr>
              <a:t>•  Platform:  Google Colab T4 GPU,  PyTorch + OpenCV + bm3d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</a:rPr>
              <a:t>Results: Grayscale (Set12)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78992"/>
            <a:ext cx="2194560" cy="54864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</a:rPr>
              <a:t>8/12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4572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914400"/>
                <a:gridCol w="914400"/>
              </a:tblGrid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2E6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σ15</a:t>
                      </a:r>
                    </a:p>
                  </a:txBody>
                  <a:tcPr>
                    <a:solidFill>
                      <a:srgbClr val="2E6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σ25</a:t>
                      </a:r>
                    </a:p>
                  </a:txBody>
                  <a:tcPr>
                    <a:solidFill>
                      <a:srgbClr val="2E6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σ50</a:t>
                      </a:r>
                    </a:p>
                  </a:txBody>
                  <a:tcPr>
                    <a:solidFill>
                      <a:srgbClr val="2E6FF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Gaussian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27.32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26.25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23.37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Median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27.78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25.45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21.07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Bilateral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26.90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26.40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22.04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NLM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30.35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27.81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23.36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300" b="1"/>
                        <a:t>BM3D</a:t>
                      </a:r>
                    </a:p>
                  </a:txBody>
                  <a:tcPr>
                    <a:solidFill>
                      <a:srgbClr val="DDEA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32.39</a:t>
                      </a:r>
                    </a:p>
                  </a:txBody>
                  <a:tcPr>
                    <a:solidFill>
                      <a:srgbClr val="DDEA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29.99</a:t>
                      </a:r>
                    </a:p>
                  </a:txBody>
                  <a:tcPr>
                    <a:solidFill>
                      <a:srgbClr val="DDEA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26.75</a:t>
                      </a:r>
                    </a:p>
                  </a:txBody>
                  <a:tcPr>
                    <a:solidFill>
                      <a:srgbClr val="DDEA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DnCNN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31.41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29.23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25.70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5321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PSNR (dB).  Ranking: BM3D &gt; DnCNN &gt; NLM &gt; simple filters</a:t>
            </a:r>
          </a:p>
        </p:txBody>
      </p:sp>
      <p:pic>
        <p:nvPicPr>
          <p:cNvPr id="7" name="Picture 6" descr="visual_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194560"/>
            <a:ext cx="6400800" cy="32591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</a:rPr>
              <a:t>Results: Color and Salt-and-Pepper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78992"/>
            <a:ext cx="2194560" cy="54864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</a:rPr>
              <a:t>9/12</a:t>
            </a:r>
          </a:p>
        </p:txBody>
      </p:sp>
      <p:pic>
        <p:nvPicPr>
          <p:cNvPr id="5" name="Picture 4" descr="visual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766560" cy="2807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737360"/>
            <a:ext cx="4480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A44"/>
                </a:solidFill>
              </a:rPr>
              <a:t>•  Color (Kodak): same ranking as grayscale</a:t>
            </a:r>
          </a:p>
          <a:p>
            <a:pPr lvl="1"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</a:rPr>
              <a:t>–  conclusions are not specific to grayscale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F2A44"/>
                </a:solidFill>
              </a:rPr>
              <a:t>•  Salt-and-pepper noise:</a:t>
            </a:r>
          </a:p>
          <a:p>
            <a:pPr lvl="1"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</a:rPr>
              <a:t>–  Median = 31.16 dB (best by far)</a:t>
            </a:r>
          </a:p>
          <a:p>
            <a:pPr lvl="1"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</a:rPr>
              <a:t>–  DnCNN = 22.5 dB (trained only on Gaussian)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A44"/>
                </a:solidFill>
              </a:rPr>
              <a:t>•  → No single method wins everywhere — it depends on the noise type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</a:rPr>
              <a:t>Key Analysis: Accuracy vs. Speed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78992"/>
            <a:ext cx="2194560" cy="54864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</a:rPr>
              <a:t>10/12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1F2A44"/>
                </a:solidFill>
              </a:rPr>
              <a:t>•  Quality: DnCNN trails BM3D by &lt; 1 dB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1F2A44"/>
                </a:solidFill>
              </a:rPr>
              <a:t>•  Speed (per grayscale image):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926080"/>
            <a:ext cx="4201343" cy="658368"/>
          </a:xfrm>
          <a:prstGeom prst="roundRect">
            <a:avLst/>
          </a:prstGeom>
          <a:solidFill>
            <a:srgbClr val="2E6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907792"/>
            <a:ext cx="6213023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  DnCNN — 0.06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886200"/>
            <a:ext cx="5313921" cy="658368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867912"/>
            <a:ext cx="7325601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  NLM — 0.20 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846320"/>
            <a:ext cx="9052560" cy="658368"/>
          </a:xfrm>
          <a:prstGeom prst="roundRect">
            <a:avLst/>
          </a:prstGeom>
          <a:solidFill>
            <a:srgbClr val="E0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828032"/>
            <a:ext cx="110642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  BM3D — 11.05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897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6FF2"/>
                </a:solidFill>
              </a:rPr>
              <a:t>→ DnCNN is ~185× faster than BM3D (≈200× on color)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78992"/>
            <a:ext cx="2194560" cy="54864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</a:rPr>
              <a:t>11/12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</a:rPr>
              <a:t>•  Quality: BM3D is strongest; DnCNN follows within &lt; 1 dB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</a:rPr>
              <a:t>•  Speed: DnCNN is ~100× faster → best choice for real-time / large-scale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</a:rPr>
              <a:t>•  Generalization: a learned model cannot exceed its training noise distribution</a:t>
            </a:r>
          </a:p>
          <a:p>
            <a:pPr lvl="1" algn="l"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</a:rPr>
              <a:t>–  classical filters (e.g. median) remain irreplaceable for specific noise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F2A44"/>
                </a:solidFill>
              </a:rPr>
              <a:t>•  Classical and learned methods are complementary, not competing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</a:rPr>
              <a:t>Future Work &amp;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78992"/>
            <a:ext cx="2194560" cy="54864"/>
          </a:xfrm>
          <a:prstGeom prst="rect">
            <a:avLst/>
          </a:prstGeom>
          <a:solidFill>
            <a:srgbClr val="2E6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</a:rPr>
              <a:t>12/12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852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A44"/>
                </a:solidFill>
              </a:rPr>
              <a:t>•  Noise-specific and longer DnCNN training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A44"/>
                </a:solidFill>
              </a:rPr>
              <a:t>•  Native color model / denoise only the Y channel (YCbCr)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A44"/>
                </a:solidFill>
              </a:rPr>
              <a:t>•  Real camera-noise datasets (e.g. SIDD)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A44"/>
                </a:solidFill>
              </a:rPr>
              <a:t>•  Transformer-based denoisers</a:t>
            </a:r>
          </a:p>
        </p:txBody>
      </p:sp>
      <p:pic>
        <p:nvPicPr>
          <p:cNvPr id="6" name="Picture 5" descr="demo_shi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023360"/>
            <a:ext cx="6583680" cy="2116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0" y="182880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6FF2"/>
                </a:solidFill>
              </a:rPr>
              <a:t>GitHub</a:t>
            </a:r>
          </a:p>
          <a:p>
            <a:pPr algn="l"/>
            <a:r>
              <a:rPr sz="1300" b="0">
                <a:solidFill>
                  <a:srgbClr val="1F2A44"/>
                </a:solidFill>
              </a:rPr>
              <a:t>github.com/1123524/ai-image-denoising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55555"/>
                </a:solidFill>
              </a:rPr>
              <a:t>Demo: a user-supplied photo, denoised at σ=25 (below).</a:t>
            </a:r>
          </a:p>
          <a:p>
            <a:pPr algn="l">
              <a:spcBef>
                <a:spcPts val="2600"/>
              </a:spcBef>
            </a:pPr>
            <a:r>
              <a:rPr sz="2400" b="1">
                <a:solidFill>
                  <a:srgbClr val="1F2A44"/>
                </a:solidFill>
              </a:rPr>
              <a:t>Thank you! 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