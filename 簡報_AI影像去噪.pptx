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傳統濾波 vs 深度學習之影像去噪比較</a:t>
            </a:r>
          </a:p>
          <a:p>
            <a:pPr algn="ctr">
              <a:spcBef>
                <a:spcPts val="1400"/>
              </a:spcBef>
            </a:pPr>
            <a:r>
              <a:rPr sz="1800" b="0">
                <a:solidFill>
                  <a:srgbClr val="BBCCEE"/>
                </a:solidFill>
              </a:rPr>
              <a:t>A Comparative Study of Classical Filters and Deep Learning for Image Denoising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1123524    1123505    1123506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BBCCEE"/>
                </a:solidFill>
              </a:rPr>
              <a:t>影像處理概論 × 人工智慧與應用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為什麼要做影像去噪？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影像在拍攝、傳輸時必然帶有雜訊（感測器、低光源、高 ISO）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雜訊模型：y = x + n　（x = 乾淨影像，n = 雜訊）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去噪是辨識、分割、醫學影像等任務的關鍵前處理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核心問題：</a:t>
            </a:r>
          </a:p>
          <a:p>
            <a:pPr lvl="1" algn="l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</a:rPr>
              <a:t>–  傳統方法 vs 深度學習，品質、速度、通用性到底差在哪？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研究目標與貢獻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在相同條件下比較 5 種傳統方法 + 深度學習 DnCNN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涵蓋範圍：</a:t>
            </a:r>
          </a:p>
          <a:p>
            <a:pPr lvl="1" algn="l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</a:rPr>
              <a:t>–  灰階 &amp; 彩色影像</a:t>
            </a:r>
          </a:p>
          <a:p>
            <a:pPr lvl="1" algn="l">
              <a:spcAft>
                <a:spcPts val="1000"/>
              </a:spcAft>
            </a:pPr>
            <a:r>
              <a:rPr sz="1800" b="0">
                <a:solidFill>
                  <a:srgbClr val="555555"/>
                </a:solidFill>
              </a:rPr>
              <a:t>–  高斯雜訊（σ = 15 / 25 / 50）&amp; 椒鹽雜訊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評估指標：PSNR、SSIM、執行時間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全程可重現，程式公開於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兩種雜訊類型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高斯雜訊：最常見，每像素加 N(0, σ²)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椒鹽雜訊：隨機黑白點（impulse noise）</a:t>
            </a:r>
          </a:p>
        </p:txBody>
      </p:sp>
      <p:pic>
        <p:nvPicPr>
          <p:cNvPr id="5" name="Picture 4" descr="saltpe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017520"/>
            <a:ext cx="9144000" cy="46559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五種傳統去噪方法（影像處理）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Gaussian：鄰域加權平均 → 會糊掉邊緣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Median：取中位數 → 剋椒鹽雜訊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Bilateral：加入「顏色相近」權重 → 保留邊緣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NLM：全圖找相似區塊來平均 → 利用自相似性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BM3D：相似區塊堆 3D + 變換域濾波 → 傳統最強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深度學習方法：DnCNN（人工智慧）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44"/>
                </a:solidFill>
              </a:rPr>
              <a:t>•  17 層 CNN（Conv–BN–ReLU）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44"/>
                </a:solidFill>
              </a:rPr>
              <a:t>•  殘差學習：學「雜訊」，再算 乾淨 = 輸入 − 雜訊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44"/>
                </a:solidFill>
              </a:rPr>
              <a:t>•  盲去噪：訓練隨機 σ∈[0,55]，單一模型應付各種強度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44"/>
                </a:solidFill>
              </a:rPr>
              <a:t>•  訓練：Train400 切 patch，50 epochs</a:t>
            </a:r>
          </a:p>
        </p:txBody>
      </p:sp>
      <p:pic>
        <p:nvPicPr>
          <p:cNvPr id="5" name="Picture 4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4023360" cy="31139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評估指標與實驗設定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PSNR（dB，越高越好）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SSIM（越接近 1 越好，貼近人眼感受）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執行時間（每張圖平均）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資料集：Set12 / BSD68（灰階）、Kodak（彩色）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平台：Google Colab T4 GPU、PyTorch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結果：灰階 Set12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8/12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4663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914400"/>
                <a:gridCol w="91440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σ15</a:t>
                      </a:r>
                    </a:p>
                  </a:txBody>
                  <a:tcPr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σ25</a:t>
                      </a:r>
                    </a:p>
                  </a:txBody>
                  <a:tcPr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σ50</a:t>
                      </a:r>
                    </a:p>
                  </a:txBody>
                  <a:tcPr>
                    <a:solidFill>
                      <a:srgbClr val="2E6FF2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Gaussian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27.32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23.37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27.78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21.07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Bilateral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26.40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NLM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27.81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23.36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BM3D</a:t>
                      </a:r>
                    </a:p>
                  </a:txBody>
                  <a:tcPr>
                    <a:solidFill>
                      <a:srgbClr val="DDE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32.39</a:t>
                      </a:r>
                    </a:p>
                  </a:txBody>
                  <a:tcPr>
                    <a:solidFill>
                      <a:srgbClr val="DDE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29.99</a:t>
                      </a:r>
                    </a:p>
                  </a:txBody>
                  <a:tcPr>
                    <a:solidFill>
                      <a:srgbClr val="DDEA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/>
                        <a:t>26.75</a:t>
                      </a:r>
                    </a:p>
                  </a:txBody>
                  <a:tcPr>
                    <a:solidFill>
                      <a:srgbClr val="DDEA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300"/>
                        <a:t>DnCNN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31.41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29.23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/>
                        <a:t>25.70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5778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PSNR(dB)；BM3D 最高、DnCNN 緊追</a:t>
            </a:r>
          </a:p>
        </p:txBody>
      </p:sp>
      <p:pic>
        <p:nvPicPr>
          <p:cNvPr id="6" name="Picture 5" descr="visual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6309360" cy="32126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結果：彩色與椒鹽雜訊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9/12</a:t>
            </a:r>
          </a:p>
        </p:txBody>
      </p:sp>
      <p:pic>
        <p:nvPicPr>
          <p:cNvPr id="4" name="Picture 3" descr="visual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766560" cy="2807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82880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A44"/>
                </a:solidFill>
              </a:rPr>
              <a:t>•  彩色 Kodak：排名與灰階一致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A44"/>
                </a:solidFill>
              </a:rPr>
              <a:t>•  椒鹽雜訊：</a:t>
            </a:r>
          </a:p>
          <a:p>
            <a:pPr lvl="1" algn="l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</a:rPr>
              <a:t>–  Median 31.16 dB 大勝</a:t>
            </a:r>
          </a:p>
          <a:p>
            <a:pPr lvl="1" algn="l">
              <a:spcAft>
                <a:spcPts val="1000"/>
              </a:spcAft>
            </a:pPr>
            <a:r>
              <a:rPr sz="1500" b="0">
                <a:solidFill>
                  <a:srgbClr val="555555"/>
                </a:solidFill>
              </a:rPr>
              <a:t>–  DnCNN 僅 22.5（只訓練過高斯）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A44"/>
                </a:solidFill>
              </a:rPr>
              <a:t>•  → 沒有萬能方法，要看雜訊類型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關鍵分析：準確度 vs 速度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品質：DnCNN 只輸 BM3D &lt; 1 dB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44"/>
                </a:solidFill>
              </a:rPr>
              <a:t>•  速度（每張灰階圖）：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08960"/>
            <a:ext cx="4201343" cy="640080"/>
          </a:xfrm>
          <a:prstGeom prst="roundRect">
            <a:avLst/>
          </a:prstGeom>
          <a:solidFill>
            <a:srgbClr val="2E6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90672"/>
            <a:ext cx="603014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  DnCNN — 0.06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069080"/>
            <a:ext cx="5313921" cy="640080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50792"/>
            <a:ext cx="7142721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  NLM — 0.20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029200"/>
            <a:ext cx="9052560" cy="640080"/>
          </a:xfrm>
          <a:prstGeom prst="roundRect">
            <a:avLst/>
          </a:prstGeom>
          <a:solidFill>
            <a:srgbClr val="E0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10912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  BM3D — 11.05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FF2"/>
                </a:solidFill>
              </a:rPr>
              <a:t>→ DnCNN 比 BM3D 快約 185 倍（彩色更達 ~200 倍）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品質：BM3D 最強，DnCNN 緊追（差 &lt; 1 dB）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速度：DnCNN 快上百倍 → 即時 / 大量處理首選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通用性：深度模型無法超出訓練的雜訊分布；</a:t>
            </a:r>
          </a:p>
          <a:p>
            <a:pPr lvl="1" algn="l">
              <a:spcAft>
                <a:spcPts val="1000"/>
              </a:spcAft>
            </a:pPr>
            <a:r>
              <a:rPr sz="1900" b="0">
                <a:solidFill>
                  <a:srgbClr val="555555"/>
                </a:solidFill>
              </a:rPr>
              <a:t>–  傳統方法在椒鹽等特定雜訊仍不可取代</a:t>
            </a:r>
          </a:p>
          <a:p>
            <a:pPr algn="l">
              <a:spcAft>
                <a:spcPts val="1000"/>
              </a:spcAft>
            </a:pPr>
            <a:r>
              <a:rPr sz="2100" b="0">
                <a:solidFill>
                  <a:srgbClr val="1F2A44"/>
                </a:solidFill>
              </a:rPr>
              <a:t>•  兩類方法互補，而非互相取代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未來工作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55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</a:rPr>
              <a:t>12/12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A44"/>
                </a:solidFill>
              </a:rPr>
              <a:t>•  針對特定 σ 訓練、訓練更久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A44"/>
                </a:solidFill>
              </a:rPr>
              <a:t>•  原生彩色模型 / YCbCr 只去亮度通道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A44"/>
                </a:solidFill>
              </a:rPr>
              <a:t>•  真實相機雜訊資料集（如 SIDD）、Transformer 去噪</a:t>
            </a:r>
          </a:p>
        </p:txBody>
      </p:sp>
      <p:pic>
        <p:nvPicPr>
          <p:cNvPr id="5" name="Picture 4" descr="demo_shi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31920"/>
            <a:ext cx="6583680" cy="21160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8288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6FF2"/>
                </a:solidFill>
              </a:rPr>
              <a:t>GitHub</a:t>
            </a:r>
          </a:p>
          <a:p>
            <a:pPr algn="l"/>
            <a:r>
              <a:rPr sz="1400" b="0">
                <a:solidFill>
                  <a:srgbClr val="1F2A44"/>
                </a:solidFill>
              </a:rPr>
              <a:t>github.com/1123524/</a:t>
            </a:r>
          </a:p>
          <a:p>
            <a:pPr algn="l"/>
            <a:r>
              <a:rPr sz="1400" b="0">
                <a:solidFill>
                  <a:srgbClr val="1F2A44"/>
                </a:solidFill>
              </a:rPr>
              <a:t>ai-image-denoising</a:t>
            </a:r>
          </a:p>
          <a:p>
            <a:pPr algn="l">
              <a:spcBef>
                <a:spcPts val="2400"/>
              </a:spcBef>
            </a:pPr>
            <a:r>
              <a:rPr sz="2400" b="1">
                <a:solidFill>
                  <a:srgbClr val="1F2A44"/>
                </a:solidFill>
              </a:rPr>
              <a:t>Thank you!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